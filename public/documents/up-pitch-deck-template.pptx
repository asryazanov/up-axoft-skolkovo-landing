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766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384048" y="384048"/>
            <a:ext cx="3200400" cy="347472"/>
          </a:xfrm>
          <a:prstGeom prst="rect">
            <a:avLst/>
          </a:prstGeom>
          <a:solidFill>
            <a:srgbClr val="243A84"/>
          </a:solidFill>
          <a:ln w="12700">
            <a:solidFill>
              <a:srgbClr val="243A8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384048" y="384048"/>
            <a:ext cx="32004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8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ПИТЧ-ДЕКА  ·  ПРОГРАММА UP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384048" y="2432304"/>
            <a:ext cx="5486400" cy="0"/>
          </a:xfrm>
          <a:prstGeom prst="line">
            <a:avLst/>
          </a:prstGeom>
          <a:noFill/>
          <a:ln w="1905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384048" y="252374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Axoft &amp; Сколково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84048" y="3072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A8B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для технологических компаний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84048" y="3566160"/>
            <a:ext cx="4572000" cy="475488"/>
          </a:xfrm>
          <a:prstGeom prst="rect">
            <a:avLst/>
          </a:prstGeom>
          <a:solidFill>
            <a:srgbClr val="1E3580"/>
          </a:solidFill>
          <a:ln w="8890">
            <a:solidFill>
              <a:srgbClr val="3A55A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384048" y="3566160"/>
            <a:ext cx="4572000" cy="4754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7A9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[Название вашей компании]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46497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9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B062316-B572-3410-CA5E-D7D376056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300" y="171781"/>
            <a:ext cx="1764565" cy="31937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6EDC7A2-F90F-5DBC-42EC-B692E7E84E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0378" y="731520"/>
            <a:ext cx="839302" cy="5968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F6E"/>
          </a:solidFill>
          <a:ln w="12700">
            <a:solidFill>
              <a:srgbClr val="1A2F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РАБОТАТЬ С ШАБЛОНОМ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548640"/>
            <a:ext cx="64008" cy="4192524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256032" y="6217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Инструкция для участника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56032" y="1280160"/>
            <a:ext cx="347472" cy="347472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256032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4944" y="12618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обязательна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4944" y="1508760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Сохраните все 10 разделов в указанном порядке. Темы и последовательность менять нельзя.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2029968"/>
            <a:ext cx="347472" cy="347472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256032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" y="2011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— подсказки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4944" y="2258568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Направляющие вопросы помогают понять, что писать. Замените их вашим контентом.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2779776"/>
            <a:ext cx="347472" cy="347472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256032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" y="27614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мысль — один слайд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94944" y="3008376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Факты и цифры вместо общих фраз. Используйте графики, скриншоты, таблицы.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3529584"/>
            <a:ext cx="347472" cy="347472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256032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" y="35112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 дистрибьюторского канала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4944" y="3758184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Партнёры покупают решения, не технологии. Акцент на бизнес-ценности и модели продаж.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1225296"/>
            <a:ext cx="4133088" cy="3200400"/>
          </a:xfrm>
          <a:prstGeom prst="rect">
            <a:avLst/>
          </a:prstGeom>
          <a:solidFill>
            <a:srgbClr val="EEF2FB"/>
          </a:solidFill>
          <a:ln w="635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4937760" y="13533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20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К ПОДАЧЕ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37760" y="1682496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файла: .pptx или .pdf</a:t>
            </a:r>
            <a:endParaRPr lang="en-US" sz="120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Объём: не более 15 слайдов включая обложку</a:t>
            </a:r>
            <a:endParaRPr lang="en-US" sz="120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Язык: русский</a:t>
            </a:r>
            <a:endParaRPr lang="en-US" sz="120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через форму на сайте или по email</a:t>
            </a:r>
            <a:endParaRPr lang="en-US" sz="120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Конфиденциальность: добавьте пометку на обложку при необходимости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4443984"/>
            <a:ext cx="4133088" cy="329184"/>
          </a:xfrm>
          <a:prstGeom prst="rect">
            <a:avLst/>
          </a:prstGeom>
          <a:solidFill>
            <a:srgbClr val="1A2F6E"/>
          </a:solidFill>
          <a:ln w="12700">
            <a:solidFill>
              <a:srgbClr val="1A2F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4937760" y="44439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Вопросы: up@axoftglobal.com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4759452"/>
            <a:ext cx="8631936" cy="0"/>
          </a:xfrm>
          <a:prstGeom prst="line">
            <a:avLst/>
          </a:prstGeom>
          <a:noFill/>
          <a:ln w="1016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256032" y="47685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AXOFT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737360" y="47685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питч-дека  ·  UP: Axoft &amp; Сколково  ·  2026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223760" y="47685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СКОЛКОВО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Направления отбор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F6E"/>
          </a:solidFill>
          <a:ln w="12700">
            <a:solidFill>
              <a:srgbClr val="1A2F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HdrTxt"/>
          <p:cNvSpPr/>
          <p:nvPr/>
        </p:nvSpPr>
        <p:spPr>
          <a:xfrm>
            <a:off x="256032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050" b="1" dirty="0">
                <a:solidFill>
                  <a:srgbClr val="FFFFFF"/>
                </a:solidFill>
                <a:latin typeface="Calibri" pitchFamily="34" charset="0"/>
              </a:rPr>
              <a:t>НАПРАВЛЕНИЯ ОТБОРА</a:t>
            </a:r>
            <a:endParaRPr lang="ru-RU" sz="1050" dirty="0"/>
          </a:p>
        </p:txBody>
      </p:sp>
      <p:sp>
        <p:nvSpPr>
          <p:cNvPr id="4" name="GreenStripe"/>
          <p:cNvSpPr/>
          <p:nvPr/>
        </p:nvSpPr>
        <p:spPr>
          <a:xfrm>
            <a:off x="0" y="548640"/>
            <a:ext cx="64008" cy="4192524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ubtitle"/>
          <p:cNvSpPr/>
          <p:nvPr/>
        </p:nvSpPr>
        <p:spPr>
          <a:xfrm>
            <a:off x="256032" y="648640"/>
            <a:ext cx="85953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950" dirty="0">
                <a:solidFill>
                  <a:srgbClr val="2D3A55"/>
                </a:solidFill>
                <a:latin typeface="Calibri" pitchFamily="34" charset="0"/>
              </a:rPr>
              <a:t>Продукт должен относиться к одному из 6 направлений программы UP</a:t>
            </a:r>
            <a:endParaRPr lang="ru-RU" sz="950" dirty="0"/>
          </a:p>
        </p:txBody>
      </p:sp>
      <p:sp>
        <p:nvSpPr>
          <p:cNvPr id="6" name="Badge1"/>
          <p:cNvSpPr/>
          <p:nvPr/>
        </p:nvSpPr>
        <p:spPr>
          <a:xfrm>
            <a:off x="256032" y="830000"/>
            <a:ext cx="330000" cy="330000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Num1"/>
          <p:cNvSpPr/>
          <p:nvPr/>
        </p:nvSpPr>
        <p:spPr>
          <a:xfrm>
            <a:off x="256032" y="830000"/>
            <a:ext cx="33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FFFFFF"/>
                </a:solidFill>
                <a:latin typeface="Calibri" pitchFamily="34" charset="0"/>
              </a:rPr>
              <a:t>01</a:t>
            </a:r>
            <a:endParaRPr lang="ru-RU" sz="1100" dirty="0"/>
          </a:p>
        </p:txBody>
      </p:sp>
      <p:sp>
        <p:nvSpPr>
          <p:cNvPr id="8" name="Name1"/>
          <p:cNvSpPr/>
          <p:nvPr/>
        </p:nvSpPr>
        <p:spPr>
          <a:xfrm>
            <a:off x="646032" y="820000"/>
            <a:ext cx="382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150" b="1" dirty="0">
                <a:solidFill>
                  <a:srgbClr val="1A2F6E"/>
                </a:solidFill>
                <a:latin typeface="Calibri" pitchFamily="34" charset="0"/>
              </a:rPr>
              <a:t>Искусственный интеллект</a:t>
            </a:r>
            <a:endParaRPr lang="ru-RU" sz="1150" dirty="0"/>
          </a:p>
        </p:txBody>
      </p:sp>
      <p:sp>
        <p:nvSpPr>
          <p:cNvPr id="9" name="Tech1"/>
          <p:cNvSpPr/>
          <p:nvPr/>
        </p:nvSpPr>
        <p:spPr>
          <a:xfrm>
            <a:off x="646032" y="1200000"/>
            <a:ext cx="38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1000" dirty="0">
                <a:solidFill>
                  <a:srgbClr val="6B7A99"/>
                </a:solidFill>
                <a:latin typeface="Calibri" pitchFamily="34" charset="0"/>
              </a:rPr>
              <a:t>ML, GenAI, речевые технологии</a:t>
            </a:r>
            <a:endParaRPr lang="ru-RU" sz="1000" dirty="0"/>
          </a:p>
        </p:txBody>
      </p:sp>
      <p:sp>
        <p:nvSpPr>
          <p:cNvPr id="10" name="Line1"/>
          <p:cNvSpPr/>
          <p:nvPr/>
        </p:nvSpPr>
        <p:spPr>
          <a:xfrm>
            <a:off x="256032" y="1540000"/>
            <a:ext cx="4210000" cy="0"/>
          </a:xfrm>
          <a:prstGeom prst="line">
            <a:avLst/>
          </a:prstGeom>
          <a:ln w="635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Badge2"/>
          <p:cNvSpPr/>
          <p:nvPr/>
        </p:nvSpPr>
        <p:spPr>
          <a:xfrm>
            <a:off x="256032" y="2100000"/>
            <a:ext cx="330000" cy="330000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Num2"/>
          <p:cNvSpPr/>
          <p:nvPr/>
        </p:nvSpPr>
        <p:spPr>
          <a:xfrm>
            <a:off x="256032" y="2100000"/>
            <a:ext cx="33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FFFFFF"/>
                </a:solidFill>
                <a:latin typeface="Calibri" pitchFamily="34" charset="0"/>
              </a:rPr>
              <a:t>02</a:t>
            </a:r>
            <a:endParaRPr lang="ru-RU" sz="1100" dirty="0"/>
          </a:p>
        </p:txBody>
      </p:sp>
      <p:sp>
        <p:nvSpPr>
          <p:cNvPr id="13" name="Name2"/>
          <p:cNvSpPr/>
          <p:nvPr/>
        </p:nvSpPr>
        <p:spPr>
          <a:xfrm>
            <a:off x="646032" y="2090000"/>
            <a:ext cx="382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150" b="1" dirty="0">
                <a:solidFill>
                  <a:srgbClr val="1A2F6E"/>
                </a:solidFill>
                <a:latin typeface="Calibri" pitchFamily="34" charset="0"/>
              </a:rPr>
              <a:t>Цифровизация промышленности</a:t>
            </a:r>
            <a:endParaRPr lang="ru-RU" sz="1150" dirty="0"/>
          </a:p>
        </p:txBody>
      </p:sp>
      <p:sp>
        <p:nvSpPr>
          <p:cNvPr id="14" name="Tech2"/>
          <p:cNvSpPr/>
          <p:nvPr/>
        </p:nvSpPr>
        <p:spPr>
          <a:xfrm>
            <a:off x="646032" y="2470000"/>
            <a:ext cx="38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1000" dirty="0">
                <a:solidFill>
                  <a:srgbClr val="6B7A99"/>
                </a:solidFill>
                <a:latin typeface="Calibri" pitchFamily="34" charset="0"/>
              </a:rPr>
              <a:t>CAD/CAE, SCADA, IIoT</a:t>
            </a:r>
            <a:endParaRPr lang="ru-RU" sz="1000" dirty="0"/>
          </a:p>
        </p:txBody>
      </p:sp>
      <p:sp>
        <p:nvSpPr>
          <p:cNvPr id="15" name="Line2"/>
          <p:cNvSpPr/>
          <p:nvPr/>
        </p:nvSpPr>
        <p:spPr>
          <a:xfrm>
            <a:off x="256032" y="2810000"/>
            <a:ext cx="4210000" cy="0"/>
          </a:xfrm>
          <a:prstGeom prst="line">
            <a:avLst/>
          </a:prstGeom>
          <a:ln w="635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Badge3"/>
          <p:cNvSpPr/>
          <p:nvPr/>
        </p:nvSpPr>
        <p:spPr>
          <a:xfrm>
            <a:off x="256032" y="3350000"/>
            <a:ext cx="330000" cy="330000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Num3"/>
          <p:cNvSpPr/>
          <p:nvPr/>
        </p:nvSpPr>
        <p:spPr>
          <a:xfrm>
            <a:off x="256032" y="3350000"/>
            <a:ext cx="33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FFFFFF"/>
                </a:solidFill>
                <a:latin typeface="Calibri" pitchFamily="34" charset="0"/>
              </a:rPr>
              <a:t>03</a:t>
            </a:r>
            <a:endParaRPr lang="ru-RU" sz="1100" dirty="0"/>
          </a:p>
        </p:txBody>
      </p:sp>
      <p:sp>
        <p:nvSpPr>
          <p:cNvPr id="18" name="Name3"/>
          <p:cNvSpPr/>
          <p:nvPr/>
        </p:nvSpPr>
        <p:spPr>
          <a:xfrm>
            <a:off x="646032" y="3340000"/>
            <a:ext cx="382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150" b="1" dirty="0">
                <a:solidFill>
                  <a:srgbClr val="1A2F6E"/>
                </a:solidFill>
                <a:latin typeface="Calibri" pitchFamily="34" charset="0"/>
              </a:rPr>
              <a:t>UC и коммуникации</a:t>
            </a:r>
            <a:endParaRPr lang="ru-RU" sz="1150" dirty="0"/>
          </a:p>
        </p:txBody>
      </p:sp>
      <p:sp>
        <p:nvSpPr>
          <p:cNvPr id="19" name="Tech3"/>
          <p:cNvSpPr/>
          <p:nvPr/>
        </p:nvSpPr>
        <p:spPr>
          <a:xfrm>
            <a:off x="646032" y="3720000"/>
            <a:ext cx="38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1000" dirty="0">
                <a:solidFill>
                  <a:srgbClr val="6B7A99"/>
                </a:solidFill>
                <a:latin typeface="Calibri" pitchFamily="34" charset="0"/>
              </a:rPr>
              <a:t>ВКС, почта, collaboration</a:t>
            </a:r>
            <a:endParaRPr lang="ru-RU" sz="1000" dirty="0"/>
          </a:p>
        </p:txBody>
      </p:sp>
      <p:sp>
        <p:nvSpPr>
          <p:cNvPr id="20" name="Line3"/>
          <p:cNvSpPr/>
          <p:nvPr/>
        </p:nvSpPr>
        <p:spPr>
          <a:xfrm>
            <a:off x="256032" y="4060000"/>
            <a:ext cx="4210000" cy="0"/>
          </a:xfrm>
          <a:prstGeom prst="line">
            <a:avLst/>
          </a:prstGeom>
          <a:ln w="635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Badge4"/>
          <p:cNvSpPr/>
          <p:nvPr/>
        </p:nvSpPr>
        <p:spPr>
          <a:xfrm>
            <a:off x="4700000" y="830000"/>
            <a:ext cx="330000" cy="330000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Num4"/>
          <p:cNvSpPr/>
          <p:nvPr/>
        </p:nvSpPr>
        <p:spPr>
          <a:xfrm>
            <a:off x="4700000" y="830000"/>
            <a:ext cx="33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FFFFFF"/>
                </a:solidFill>
                <a:latin typeface="Calibri" pitchFamily="34" charset="0"/>
              </a:rPr>
              <a:t>04</a:t>
            </a:r>
            <a:endParaRPr lang="ru-RU" sz="1100" dirty="0"/>
          </a:p>
        </p:txBody>
      </p:sp>
      <p:sp>
        <p:nvSpPr>
          <p:cNvPr id="23" name="Name4"/>
          <p:cNvSpPr/>
          <p:nvPr/>
        </p:nvSpPr>
        <p:spPr>
          <a:xfrm>
            <a:off x="5090000" y="820000"/>
            <a:ext cx="382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150" b="1" dirty="0">
                <a:solidFill>
                  <a:srgbClr val="1A2F6E"/>
                </a:solidFill>
                <a:latin typeface="Calibri" pitchFamily="34" charset="0"/>
              </a:rPr>
              <a:t>Безопасная разработка ПО</a:t>
            </a:r>
            <a:endParaRPr lang="ru-RU" sz="1150" dirty="0"/>
          </a:p>
        </p:txBody>
      </p:sp>
      <p:sp>
        <p:nvSpPr>
          <p:cNvPr id="24" name="Tech4"/>
          <p:cNvSpPr/>
          <p:nvPr/>
        </p:nvSpPr>
        <p:spPr>
          <a:xfrm>
            <a:off x="5090000" y="1200000"/>
            <a:ext cx="38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1000" dirty="0">
                <a:solidFill>
                  <a:srgbClr val="6B7A99"/>
                </a:solidFill>
                <a:latin typeface="Calibri" pitchFamily="34" charset="0"/>
              </a:rPr>
              <a:t>AppSec, SAST/DAST (РБПО)</a:t>
            </a:r>
            <a:endParaRPr lang="ru-RU" sz="1000" dirty="0"/>
          </a:p>
        </p:txBody>
      </p:sp>
      <p:sp>
        <p:nvSpPr>
          <p:cNvPr id="25" name="Line4"/>
          <p:cNvSpPr/>
          <p:nvPr/>
        </p:nvSpPr>
        <p:spPr>
          <a:xfrm>
            <a:off x="4700000" y="1540000"/>
            <a:ext cx="4210000" cy="0"/>
          </a:xfrm>
          <a:prstGeom prst="line">
            <a:avLst/>
          </a:prstGeom>
          <a:ln w="635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Badge5"/>
          <p:cNvSpPr/>
          <p:nvPr/>
        </p:nvSpPr>
        <p:spPr>
          <a:xfrm>
            <a:off x="4700000" y="2100000"/>
            <a:ext cx="330000" cy="330000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Num5"/>
          <p:cNvSpPr/>
          <p:nvPr/>
        </p:nvSpPr>
        <p:spPr>
          <a:xfrm>
            <a:off x="4700000" y="2100000"/>
            <a:ext cx="33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FFFFFF"/>
                </a:solidFill>
                <a:latin typeface="Calibri" pitchFamily="34" charset="0"/>
              </a:rPr>
              <a:t>05</a:t>
            </a:r>
            <a:endParaRPr lang="ru-RU" sz="1100" dirty="0"/>
          </a:p>
        </p:txBody>
      </p:sp>
      <p:sp>
        <p:nvSpPr>
          <p:cNvPr id="28" name="Name5"/>
          <p:cNvSpPr/>
          <p:nvPr/>
        </p:nvSpPr>
        <p:spPr>
          <a:xfrm>
            <a:off x="5090000" y="2090000"/>
            <a:ext cx="382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150" b="1" dirty="0">
                <a:solidFill>
                  <a:srgbClr val="1A2F6E"/>
                </a:solidFill>
                <a:latin typeface="Calibri" pitchFamily="34" charset="0"/>
              </a:rPr>
              <a:t>Промышленная роботизация</a:t>
            </a:r>
            <a:endParaRPr lang="ru-RU" sz="1150" dirty="0"/>
          </a:p>
        </p:txBody>
      </p:sp>
      <p:sp>
        <p:nvSpPr>
          <p:cNvPr id="29" name="Tech5"/>
          <p:cNvSpPr/>
          <p:nvPr/>
        </p:nvSpPr>
        <p:spPr>
          <a:xfrm>
            <a:off x="5090000" y="2470000"/>
            <a:ext cx="38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1000" dirty="0">
                <a:solidFill>
                  <a:srgbClr val="6B7A99"/>
                </a:solidFill>
                <a:latin typeface="Calibri" pitchFamily="34" charset="0"/>
              </a:rPr>
              <a:t>Промышленные роботы, коботы, автоматизация</a:t>
            </a:r>
            <a:endParaRPr lang="ru-RU" sz="1000" dirty="0"/>
          </a:p>
        </p:txBody>
      </p:sp>
      <p:sp>
        <p:nvSpPr>
          <p:cNvPr id="30" name="Line5"/>
          <p:cNvSpPr/>
          <p:nvPr/>
        </p:nvSpPr>
        <p:spPr>
          <a:xfrm>
            <a:off x="4700000" y="2810000"/>
            <a:ext cx="4210000" cy="0"/>
          </a:xfrm>
          <a:prstGeom prst="line">
            <a:avLst/>
          </a:prstGeom>
          <a:ln w="635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Badge6"/>
          <p:cNvSpPr/>
          <p:nvPr/>
        </p:nvSpPr>
        <p:spPr>
          <a:xfrm>
            <a:off x="4700000" y="3350000"/>
            <a:ext cx="330000" cy="330000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Num6"/>
          <p:cNvSpPr/>
          <p:nvPr/>
        </p:nvSpPr>
        <p:spPr>
          <a:xfrm>
            <a:off x="4700000" y="3350000"/>
            <a:ext cx="33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FFFFFF"/>
                </a:solidFill>
                <a:latin typeface="Calibri" pitchFamily="34" charset="0"/>
              </a:rPr>
              <a:t>06</a:t>
            </a:r>
            <a:endParaRPr lang="ru-RU" sz="1100" dirty="0"/>
          </a:p>
        </p:txBody>
      </p:sp>
      <p:sp>
        <p:nvSpPr>
          <p:cNvPr id="33" name="Name6"/>
          <p:cNvSpPr/>
          <p:nvPr/>
        </p:nvSpPr>
        <p:spPr>
          <a:xfrm>
            <a:off x="5090000" y="3340000"/>
            <a:ext cx="382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150" b="1" dirty="0">
                <a:solidFill>
                  <a:srgbClr val="1A2F6E"/>
                </a:solidFill>
                <a:latin typeface="Calibri" pitchFamily="34" charset="0"/>
              </a:rPr>
              <a:t>БАС / Анти-БПЛА</a:t>
            </a:r>
            <a:endParaRPr lang="ru-RU" sz="1150" dirty="0"/>
          </a:p>
        </p:txBody>
      </p:sp>
      <p:sp>
        <p:nvSpPr>
          <p:cNvPr id="34" name="Tech6"/>
          <p:cNvSpPr/>
          <p:nvPr/>
        </p:nvSpPr>
        <p:spPr>
          <a:xfrm>
            <a:off x="5090000" y="3720000"/>
            <a:ext cx="38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1000" dirty="0">
                <a:solidFill>
                  <a:srgbClr val="6B7A99"/>
                </a:solidFill>
                <a:latin typeface="Calibri" pitchFamily="34" charset="0"/>
              </a:rPr>
              <a:t>Беспилотные авиасистемы, защита от БПЛА</a:t>
            </a:r>
            <a:endParaRPr lang="ru-RU" sz="1000" dirty="0"/>
          </a:p>
        </p:txBody>
      </p:sp>
      <p:sp>
        <p:nvSpPr>
          <p:cNvPr id="35" name="Line6"/>
          <p:cNvSpPr/>
          <p:nvPr/>
        </p:nvSpPr>
        <p:spPr>
          <a:xfrm>
            <a:off x="4700000" y="4060000"/>
            <a:ext cx="4210000" cy="0"/>
          </a:xfrm>
          <a:prstGeom prst="line">
            <a:avLst/>
          </a:prstGeom>
          <a:ln w="635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FtrLine"/>
          <p:cNvSpPr/>
          <p:nvPr/>
        </p:nvSpPr>
        <p:spPr>
          <a:xfrm>
            <a:off x="256032" y="4759452"/>
            <a:ext cx="8631936" cy="0"/>
          </a:xfrm>
          <a:prstGeom prst="line">
            <a:avLst/>
          </a:prstGeom>
          <a:ln w="635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FtrAxoft"/>
          <p:cNvSpPr/>
          <p:nvPr/>
        </p:nvSpPr>
        <p:spPr>
          <a:xfrm>
            <a:off x="256032" y="47685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850" b="1" dirty="0">
                <a:solidFill>
                  <a:srgbClr val="1A2F6E"/>
                </a:solidFill>
                <a:latin typeface="Calibri" pitchFamily="34" charset="0"/>
              </a:rPr>
              <a:t>AXOFT</a:t>
            </a:r>
            <a:endParaRPr lang="ru-RU" sz="850" dirty="0"/>
          </a:p>
        </p:txBody>
      </p:sp>
      <p:sp>
        <p:nvSpPr>
          <p:cNvPr id="38" name="FtrCenter"/>
          <p:cNvSpPr/>
          <p:nvPr/>
        </p:nvSpPr>
        <p:spPr>
          <a:xfrm>
            <a:off x="1737360" y="47685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850" dirty="0">
                <a:solidFill>
                  <a:srgbClr val="6B7A99"/>
                </a:solidFill>
                <a:latin typeface="Calibri" pitchFamily="34" charset="0"/>
              </a:rPr>
              <a:t>Шаблон питч-дека  ·  UP: Axoft &amp; Сколково  ·  2026</a:t>
            </a:r>
            <a:endParaRPr lang="ru-RU" sz="850" dirty="0"/>
          </a:p>
        </p:txBody>
      </p:sp>
      <p:sp>
        <p:nvSpPr>
          <p:cNvPr id="39" name="FtrSkolkovo"/>
          <p:cNvSpPr/>
          <p:nvPr/>
        </p:nvSpPr>
        <p:spPr>
          <a:xfrm>
            <a:off x="7223760" y="47685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850" b="1" dirty="0">
                <a:solidFill>
                  <a:srgbClr val="009A4E"/>
                </a:solidFill>
                <a:latin typeface="Calibri" pitchFamily="34" charset="0"/>
              </a:rPr>
              <a:t>СКОЛКОВО</a:t>
            </a:r>
            <a:endParaRPr lang="ru-RU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F6E"/>
          </a:solidFill>
          <a:ln w="12700">
            <a:solidFill>
              <a:srgbClr val="1A2F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ПРОБЛЕМА И РЕШЕНИЕ  —  1/2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75120" y="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A8B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64008" cy="4192524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56032" y="621792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" y="128016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Подтвердите боль клиента данными — покажите, что проблема реальна и масштабна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609344"/>
            <a:ext cx="3950208" cy="3104388"/>
          </a:xfrm>
          <a:prstGeom prst="rect">
            <a:avLst/>
          </a:prstGeom>
          <a:solidFill>
            <a:srgbClr val="EEF2FB"/>
          </a:solidFill>
          <a:ln w="635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20624" y="1719072"/>
            <a:ext cx="367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НАПРАВЛЯЮЩИЕ ВОПРОСЫ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0624" y="2002536"/>
            <a:ext cx="3675888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какой конкретной болью сталкиваются ваши клиенты? Опишите ситуацию «как есть».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проблема решается сейчас и почему существующие подходы недостаточны?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Какими данными вы подтверждаете масштаб? Исследования, опросы, кейсы клиентов.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происходит, если не решать? Какова цена бездействия для компании?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1609344"/>
            <a:ext cx="4572000" cy="3104388"/>
          </a:xfrm>
          <a:prstGeom prst="rect">
            <a:avLst/>
          </a:prstGeom>
          <a:solidFill>
            <a:srgbClr val="F8F9FE"/>
          </a:solidFill>
          <a:ln w="10160">
            <a:solidFill>
              <a:srgbClr val="B8C6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498848" y="17190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ДАННЫЕ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98848" y="1993392"/>
            <a:ext cx="4206240" cy="0"/>
          </a:xfrm>
          <a:prstGeom prst="line">
            <a:avLst/>
          </a:prstGeom>
          <a:noFill/>
          <a:ln w="6350">
            <a:solidFill>
              <a:srgbClr val="B8C6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498848" y="2011680"/>
            <a:ext cx="4206240" cy="180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Описание проблемы в 2–3 предложениях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Данные / статистика / исследования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Цитата клиента или кейс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Иллюстрация: фото, схема, диаграмма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98848" y="3912809"/>
            <a:ext cx="4206240" cy="0"/>
          </a:xfrm>
          <a:prstGeom prst="line">
            <a:avLst/>
          </a:prstGeom>
          <a:noFill/>
          <a:ln w="5080">
            <a:solidFill>
              <a:srgbClr val="B8C6E8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498848" y="3958529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Замените этот блок своим контентом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4759452"/>
            <a:ext cx="8631936" cy="0"/>
          </a:xfrm>
          <a:prstGeom prst="line">
            <a:avLst/>
          </a:prstGeom>
          <a:noFill/>
          <a:ln w="1016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256032" y="47685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AXOFT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37360" y="47685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питч-дека  ·  UP: Axoft &amp; Сколково  ·  2026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223760" y="47685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СКОЛКОВО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F6E"/>
          </a:solidFill>
          <a:ln w="12700">
            <a:solidFill>
              <a:srgbClr val="1A2F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ПРОБЛЕМА И РЕШЕНИЕ  —  2/2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75120" y="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A8B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64008" cy="4192524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56032" y="621792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" y="128016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Опишите продукт в двух предложениях — без жаргона, с акцентом на результат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609344"/>
            <a:ext cx="3950208" cy="3104388"/>
          </a:xfrm>
          <a:prstGeom prst="rect">
            <a:avLst/>
          </a:prstGeom>
          <a:solidFill>
            <a:srgbClr val="EEF2FB"/>
          </a:solidFill>
          <a:ln w="635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20624" y="1719072"/>
            <a:ext cx="367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НАПРАВЛЯЮЩИЕ ВОПРОСЫ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0624" y="2002536"/>
            <a:ext cx="3675888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именно делает ваш продукт? Объясните директору по продажам без технического жаргона.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механически работает решение? Назовите 3–5 ключевых функций.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Покажите продукт: скриншот, схема архитектуры или ссылка на демо.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ваш подход принципиально лучше альтернатив?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1609344"/>
            <a:ext cx="4572000" cy="3104388"/>
          </a:xfrm>
          <a:prstGeom prst="rect">
            <a:avLst/>
          </a:prstGeom>
          <a:solidFill>
            <a:srgbClr val="F8F9FE"/>
          </a:solidFill>
          <a:ln w="10160">
            <a:solidFill>
              <a:srgbClr val="B8C6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498848" y="17190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ДАННЫЕ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98848" y="1993392"/>
            <a:ext cx="4206240" cy="0"/>
          </a:xfrm>
          <a:prstGeom prst="line">
            <a:avLst/>
          </a:prstGeom>
          <a:noFill/>
          <a:ln w="6350">
            <a:solidFill>
              <a:srgbClr val="B8C6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498848" y="2011680"/>
            <a:ext cx="4206240" cy="180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1–2 предложения: что делает продукт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Скриншот / схема / демо-видео (ссылка)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3–5 ключевых функций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Главное конкурентное отличие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98848" y="3912809"/>
            <a:ext cx="4206240" cy="0"/>
          </a:xfrm>
          <a:prstGeom prst="line">
            <a:avLst/>
          </a:prstGeom>
          <a:noFill/>
          <a:ln w="5080">
            <a:solidFill>
              <a:srgbClr val="B8C6E8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498848" y="3958529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Замените этот блок своим контентом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4759452"/>
            <a:ext cx="8631936" cy="0"/>
          </a:xfrm>
          <a:prstGeom prst="line">
            <a:avLst/>
          </a:prstGeom>
          <a:noFill/>
          <a:ln w="1016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256032" y="47685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AXOFT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37360" y="47685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питч-дека  ·  UP: Axoft &amp; Сколково  ·  2026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223760" y="47685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СКОЛКОВО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F6E"/>
          </a:solidFill>
          <a:ln w="12700">
            <a:solidFill>
              <a:srgbClr val="1A2F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ЦЕННОСТНОЕ ПРЕДЛОЖЕНИЕ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75120" y="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A8B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64008" cy="4192524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56032" y="621792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Ценностное предложение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" y="128016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Формула: «Для [кого] наш [продукт] решает [проблему], давая [измеримый результат]»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609344"/>
            <a:ext cx="3950208" cy="3104388"/>
          </a:xfrm>
          <a:prstGeom prst="rect">
            <a:avLst/>
          </a:prstGeom>
          <a:solidFill>
            <a:srgbClr val="EEF2FB"/>
          </a:solidFill>
          <a:ln w="635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20624" y="1719072"/>
            <a:ext cx="367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НАПРАВЛЯЮЩИЕ ВОПРОСЫ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0624" y="2002536"/>
            <a:ext cx="3675888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кого этот продукт? Конкретный профиль: отрасль, размер компании, должность ЛПР.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измеримый результат получает клиент? Экономия, рост выручки, снижение риска.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вы делаете лучше всех? Один главный дифференциатор — честно и конкретно.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клиент должен купить сейчас, а не через год? Что теряет, если откладывает?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1609344"/>
            <a:ext cx="4572000" cy="3104388"/>
          </a:xfrm>
          <a:prstGeom prst="rect">
            <a:avLst/>
          </a:prstGeom>
          <a:solidFill>
            <a:srgbClr val="F8F9FE"/>
          </a:solidFill>
          <a:ln w="10160">
            <a:solidFill>
              <a:srgbClr val="B8C6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498848" y="17190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ДАННЫЕ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98848" y="1993392"/>
            <a:ext cx="4206240" cy="0"/>
          </a:xfrm>
          <a:prstGeom prst="line">
            <a:avLst/>
          </a:prstGeom>
          <a:noFill/>
          <a:ln w="6350">
            <a:solidFill>
              <a:srgbClr val="B8C6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498848" y="2011680"/>
            <a:ext cx="4206240" cy="180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Одна фраза ценностного предложения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Профиль идеального клиента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Измеримый результат (цифры)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Главный дифференциатор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98848" y="3912809"/>
            <a:ext cx="4206240" cy="0"/>
          </a:xfrm>
          <a:prstGeom prst="line">
            <a:avLst/>
          </a:prstGeom>
          <a:noFill/>
          <a:ln w="5080">
            <a:solidFill>
              <a:srgbClr val="B8C6E8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498848" y="3958529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Замените этот блок своим контентом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4759452"/>
            <a:ext cx="8631936" cy="0"/>
          </a:xfrm>
          <a:prstGeom prst="line">
            <a:avLst/>
          </a:prstGeom>
          <a:noFill/>
          <a:ln w="1016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256032" y="47685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AXOFT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37360" y="47685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питч-дека  ·  UP: Axoft &amp; Сколково  ·  2026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223760" y="47685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СКОЛКОВО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F6E"/>
          </a:solidFill>
          <a:ln w="12700">
            <a:solidFill>
              <a:srgbClr val="1A2F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РЫНОК И АУДИТОРИЯ  —  1/2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75120" y="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A8B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64008" cy="4192524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56032" y="621792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" y="128016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Нарисуйте портрет идеального клиента: компания, роль ЛПР, приоритеты, путь покупки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609344"/>
            <a:ext cx="3950208" cy="3104388"/>
          </a:xfrm>
          <a:prstGeom prst="rect">
            <a:avLst/>
          </a:prstGeom>
          <a:solidFill>
            <a:srgbClr val="EEF2FB"/>
          </a:solidFill>
          <a:ln w="635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20624" y="1719072"/>
            <a:ext cx="367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НАПРАВЛЯЮЩИЕ ВОПРОСЫ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0624" y="2002536"/>
            <a:ext cx="3675888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ваш идеальный клиент? Отрасль, размер по выручке и штату, роль ЛПР.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проблемы и приоритеты у этого клиента прямо сейчас?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он покупает ИТ-решения? Тендер, прямая продажа, через дистрибьютора?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Приведите 3–5 примеров реальных компаний — идеальных клиентов.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1609344"/>
            <a:ext cx="4572000" cy="3104388"/>
          </a:xfrm>
          <a:prstGeom prst="rect">
            <a:avLst/>
          </a:prstGeom>
          <a:solidFill>
            <a:srgbClr val="F8F9FE"/>
          </a:solidFill>
          <a:ln w="10160">
            <a:solidFill>
              <a:srgbClr val="B8C6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498848" y="17190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ДАННЫЕ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98848" y="1993392"/>
            <a:ext cx="4206240" cy="0"/>
          </a:xfrm>
          <a:prstGeom prst="line">
            <a:avLst/>
          </a:prstGeom>
          <a:noFill/>
          <a:ln w="6350">
            <a:solidFill>
              <a:srgbClr val="B8C6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498848" y="2011680"/>
            <a:ext cx="4206240" cy="180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Портрет клиента: отрасль, размер, ЛПР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Топ-3 проблемы / приоритета клиента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Модель покупки ИТ-решений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Примеры целевых компаний (логотипы)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98848" y="3912809"/>
            <a:ext cx="4206240" cy="0"/>
          </a:xfrm>
          <a:prstGeom prst="line">
            <a:avLst/>
          </a:prstGeom>
          <a:noFill/>
          <a:ln w="5080">
            <a:solidFill>
              <a:srgbClr val="B8C6E8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498848" y="3958529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Замените этот блок своим контентом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4759452"/>
            <a:ext cx="8631936" cy="0"/>
          </a:xfrm>
          <a:prstGeom prst="line">
            <a:avLst/>
          </a:prstGeom>
          <a:noFill/>
          <a:ln w="1016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256032" y="47685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AXOFT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37360" y="47685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питч-дека  ·  UP: Axoft &amp; Сколково  ·  2026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223760" y="47685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СКОЛКОВО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F6E"/>
          </a:solidFill>
          <a:ln w="12700">
            <a:solidFill>
              <a:srgbClr val="1A2F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РЫНОК И АУДИТОРИЯ  —  2/2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75120" y="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A8B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64008" cy="4192524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56032" y="621792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и динамика рынка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" y="128016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→ SAM → SOM с обоснованием — покажите, откуда берутся цифры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609344"/>
            <a:ext cx="3950208" cy="3104388"/>
          </a:xfrm>
          <a:prstGeom prst="rect">
            <a:avLst/>
          </a:prstGeom>
          <a:solidFill>
            <a:srgbClr val="EEF2FB"/>
          </a:solidFill>
          <a:ln w="635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20624" y="1719072"/>
            <a:ext cx="367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НАПРАВЛЯЮЩИЕ ВОПРОСЫ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0624" y="2002536"/>
            <a:ext cx="3675888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Каков TAM, SAM и SOM в рублях? Обоснуйте каждую цифру.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быстро растёт рынок? Укажите CAGR и два ключевых драйвера роста.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регуляторные факторы (импортозамещение, нормативы), ускоряющие спрос?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 целевая доля рынка через 3 года и допущения, на которых она основана.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1609344"/>
            <a:ext cx="4572000" cy="3104388"/>
          </a:xfrm>
          <a:prstGeom prst="rect">
            <a:avLst/>
          </a:prstGeom>
          <a:solidFill>
            <a:srgbClr val="F8F9FE"/>
          </a:solidFill>
          <a:ln w="10160">
            <a:solidFill>
              <a:srgbClr val="B8C6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498848" y="17190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ДАННЫЕ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98848" y="1993392"/>
            <a:ext cx="4206240" cy="0"/>
          </a:xfrm>
          <a:prstGeom prst="line">
            <a:avLst/>
          </a:prstGeom>
          <a:noFill/>
          <a:ln w="6350">
            <a:solidFill>
              <a:srgbClr val="B8C6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498848" y="2011680"/>
            <a:ext cx="4206240" cy="180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TAM / SAM / SOM — воронка с цифрами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Динамика рынка: CAGR и ключевые драйверы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Регуляторные / рыночные факторы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Целевая доля: год 1, год 2, год 3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98848" y="3912809"/>
            <a:ext cx="4206240" cy="0"/>
          </a:xfrm>
          <a:prstGeom prst="line">
            <a:avLst/>
          </a:prstGeom>
          <a:noFill/>
          <a:ln w="5080">
            <a:solidFill>
              <a:srgbClr val="B8C6E8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498848" y="3958529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Замените этот блок своим контентом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4759452"/>
            <a:ext cx="8631936" cy="0"/>
          </a:xfrm>
          <a:prstGeom prst="line">
            <a:avLst/>
          </a:prstGeom>
          <a:noFill/>
          <a:ln w="1016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256032" y="47685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AXOFT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37360" y="47685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питч-дека  ·  UP: Axoft &amp; Сколково  ·  2026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223760" y="47685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СКОЛКОВО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F6E"/>
          </a:solidFill>
          <a:ln w="12700">
            <a:solidFill>
              <a:srgbClr val="1A2F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ПРОДУКТ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75120" y="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A8B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64008" cy="4192524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56032" y="621792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Продукт: готовность и уникальность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" y="128016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Покажите зрелость, технологическую уникальность и дорожную карту развития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609344"/>
            <a:ext cx="3950208" cy="3104388"/>
          </a:xfrm>
          <a:prstGeom prst="rect">
            <a:avLst/>
          </a:prstGeom>
          <a:solidFill>
            <a:srgbClr val="EEF2FB"/>
          </a:solidFill>
          <a:ln w="635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20624" y="1719072"/>
            <a:ext cx="367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НАПРАВЛЯЮЩИЕ ВОПРОСЫ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0624" y="2002536"/>
            <a:ext cx="3675888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Стадия готовности: R&amp;D, MVP, пилот, коммерческий запуск или масштабирование?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технологии в основе? В чём уникальность и защита от копирования?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патенты, ноу-хау, собственные алгоритмы или уникальные данные?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 на 12–18 месяцев: что будет готово и к какому сроку?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1609344"/>
            <a:ext cx="4572000" cy="3104388"/>
          </a:xfrm>
          <a:prstGeom prst="rect">
            <a:avLst/>
          </a:prstGeom>
          <a:solidFill>
            <a:srgbClr val="F8F9FE"/>
          </a:solidFill>
          <a:ln w="10160">
            <a:solidFill>
              <a:srgbClr val="B8C6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498848" y="17190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ДАННЫЕ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98848" y="1993392"/>
            <a:ext cx="4206240" cy="0"/>
          </a:xfrm>
          <a:prstGeom prst="line">
            <a:avLst/>
          </a:prstGeom>
          <a:noFill/>
          <a:ln w="6350">
            <a:solidFill>
              <a:srgbClr val="B8C6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498848" y="2011680"/>
            <a:ext cx="4206240" cy="180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Стадия готовности + ключевые метрики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Технологический стек и уникальность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Патенты / ноу-хау / статус защиты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Roadmap: таймлайн с ключевыми вехами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98848" y="3912809"/>
            <a:ext cx="4206240" cy="0"/>
          </a:xfrm>
          <a:prstGeom prst="line">
            <a:avLst/>
          </a:prstGeom>
          <a:noFill/>
          <a:ln w="5080">
            <a:solidFill>
              <a:srgbClr val="B8C6E8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498848" y="3958529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Замените этот блок своим контентом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4759452"/>
            <a:ext cx="8631936" cy="0"/>
          </a:xfrm>
          <a:prstGeom prst="line">
            <a:avLst/>
          </a:prstGeom>
          <a:noFill/>
          <a:ln w="1016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256032" y="47685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AXOFT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37360" y="47685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питч-дека  ·  UP: Axoft &amp; Сколково  ·  2026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223760" y="47685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СКОЛКОВО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F6E"/>
          </a:solidFill>
          <a:ln w="12700">
            <a:solidFill>
              <a:srgbClr val="1A2F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КОНКУРЕНЦИЯ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75120" y="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A8B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64008" cy="4192524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56032" y="621792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Конкурентная среда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" y="128016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Покажите карту рынка: кто рядом и по каким осям вы объективно выигрываете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609344"/>
            <a:ext cx="3950208" cy="3104388"/>
          </a:xfrm>
          <a:prstGeom prst="rect">
            <a:avLst/>
          </a:prstGeom>
          <a:solidFill>
            <a:srgbClr val="EEF2FB"/>
          </a:solidFill>
          <a:ln w="635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20624" y="1719072"/>
            <a:ext cx="367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НАПРАВЛЯЮЩИЕ ВОПРОСЫ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0624" y="2002536"/>
            <a:ext cx="3675888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прямые конкуренты (аналогичный продукт) и косвенные (другой подход)?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каким 4–6 параметрам сравниваете? Функциональность, цена, интеграция, поддержка.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каким критериям вы объективно выигрываете? Подтвердите данными или отзывами.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создаёт барьер входа и делает преимущество трудно копируемым?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1609344"/>
            <a:ext cx="4572000" cy="3104388"/>
          </a:xfrm>
          <a:prstGeom prst="rect">
            <a:avLst/>
          </a:prstGeom>
          <a:solidFill>
            <a:srgbClr val="F8F9FE"/>
          </a:solidFill>
          <a:ln w="10160">
            <a:solidFill>
              <a:srgbClr val="B8C6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498848" y="17190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ДАННЫЕ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98848" y="1993392"/>
            <a:ext cx="4206240" cy="0"/>
          </a:xfrm>
          <a:prstGeom prst="line">
            <a:avLst/>
          </a:prstGeom>
          <a:noFill/>
          <a:ln w="6350">
            <a:solidFill>
              <a:srgbClr val="B8C6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498848" y="2011680"/>
            <a:ext cx="4206240" cy="180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Таблица сравнения с конкурентами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Матрица позиционирования (2 оси)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Ваши объективные преимущества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Барьеры для копирования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98848" y="3912809"/>
            <a:ext cx="4206240" cy="0"/>
          </a:xfrm>
          <a:prstGeom prst="line">
            <a:avLst/>
          </a:prstGeom>
          <a:noFill/>
          <a:ln w="5080">
            <a:solidFill>
              <a:srgbClr val="B8C6E8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498848" y="3958529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Замените этот блок своим контентом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4759452"/>
            <a:ext cx="8631936" cy="0"/>
          </a:xfrm>
          <a:prstGeom prst="line">
            <a:avLst/>
          </a:prstGeom>
          <a:noFill/>
          <a:ln w="1016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256032" y="47685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AXOFT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37360" y="47685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питч-дека  ·  UP: Axoft &amp; Сколково  ·  2026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223760" y="47685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СКОЛКОВО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F6E"/>
          </a:solidFill>
          <a:ln w="12700">
            <a:solidFill>
              <a:srgbClr val="1A2F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БИЗНЕС-МОДЕЛЬ И ПЛАН РАЗВИТИЯ  —  1/2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75120" y="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A8B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64008" cy="4192524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56032" y="621792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" y="128016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Объясните, как вы зарабатываете: модель монетизации, метрики, юнит-экономика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609344"/>
            <a:ext cx="3950208" cy="3104388"/>
          </a:xfrm>
          <a:prstGeom prst="rect">
            <a:avLst/>
          </a:prstGeom>
          <a:solidFill>
            <a:srgbClr val="EEF2FB"/>
          </a:solidFill>
          <a:ln w="635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20624" y="1719072"/>
            <a:ext cx="367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НАПРАВЛЯЮЩИЕ ВОПРОСЫ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0624" y="2002536"/>
            <a:ext cx="3675888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монетизации: лицензия, подписка, транзакция или внедрение + сопровождение?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Текущие метрики: ARR/MRR, число клиентов, средний чек, стоимость контракта.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Юнит-экономика: CAC, LTV, Payback Period, маржинальность продукта.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сделки: от первого контакта до подписания договора — сколько времени?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1609344"/>
            <a:ext cx="4572000" cy="3104388"/>
          </a:xfrm>
          <a:prstGeom prst="rect">
            <a:avLst/>
          </a:prstGeom>
          <a:solidFill>
            <a:srgbClr val="F8F9FE"/>
          </a:solidFill>
          <a:ln w="10160">
            <a:solidFill>
              <a:srgbClr val="B8C6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498848" y="17190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ДАННЫЕ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98848" y="1993392"/>
            <a:ext cx="4206240" cy="0"/>
          </a:xfrm>
          <a:prstGeom prst="line">
            <a:avLst/>
          </a:prstGeom>
          <a:noFill/>
          <a:ln w="6350">
            <a:solidFill>
              <a:srgbClr val="B8C6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498848" y="2011680"/>
            <a:ext cx="4206240" cy="180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Схема монетизации / ценовые планы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Ключевые метрики: ARR, клиенты, чек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Юнит-экономика: CAC / LTV / payback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Типичный цикл сделки: этапы и сроки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98848" y="3912809"/>
            <a:ext cx="4206240" cy="0"/>
          </a:xfrm>
          <a:prstGeom prst="line">
            <a:avLst/>
          </a:prstGeom>
          <a:noFill/>
          <a:ln w="5080">
            <a:solidFill>
              <a:srgbClr val="B8C6E8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498848" y="3958529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Замените этот блок своим контентом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4759452"/>
            <a:ext cx="8631936" cy="0"/>
          </a:xfrm>
          <a:prstGeom prst="line">
            <a:avLst/>
          </a:prstGeom>
          <a:noFill/>
          <a:ln w="1016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256032" y="47685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AXOFT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37360" y="47685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питч-дека  ·  UP: Axoft &amp; Сколково  ·  2026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223760" y="47685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СКОЛКОВО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F6E"/>
          </a:solidFill>
          <a:ln w="12700">
            <a:solidFill>
              <a:srgbClr val="1A2F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БИЗНЕС-МОДЕЛЬ И ПЛАН РАЗВИТИЯ  —  2/2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75120" y="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A8B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64008" cy="4192524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56032" y="621792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через дистрибьюторский канал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" y="128016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Конкретный Go-to-Market через канал Axoft: кто продаёт, как, с какой целью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609344"/>
            <a:ext cx="3950208" cy="3104388"/>
          </a:xfrm>
          <a:prstGeom prst="rect">
            <a:avLst/>
          </a:prstGeom>
          <a:solidFill>
            <a:srgbClr val="EEF2FB"/>
          </a:solidFill>
          <a:ln w="635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20624" y="1719072"/>
            <a:ext cx="367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НАПРАВЛЯЮЩИЕ ВОПРОСЫ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0624" y="2002536"/>
            <a:ext cx="3675888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продукт встраивается в модель дистрибуции? Кто продаёт конечному клиенту?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профиль партнёра подходит для продажи? Нужные компетенции.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требуется для запуска в канале? Обучение, демо, маркетинговые материалы.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по каналу Axoft: год 1 и год 2 — в контрактах и выручке.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1609344"/>
            <a:ext cx="4572000" cy="3104388"/>
          </a:xfrm>
          <a:prstGeom prst="rect">
            <a:avLst/>
          </a:prstGeom>
          <a:solidFill>
            <a:srgbClr val="F8F9FE"/>
          </a:solidFill>
          <a:ln w="10160">
            <a:solidFill>
              <a:srgbClr val="B8C6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498848" y="17190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ДАННЫЕ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98848" y="1993392"/>
            <a:ext cx="4206240" cy="0"/>
          </a:xfrm>
          <a:prstGeom prst="line">
            <a:avLst/>
          </a:prstGeom>
          <a:noFill/>
          <a:ln w="6350">
            <a:solidFill>
              <a:srgbClr val="B8C6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498848" y="2011680"/>
            <a:ext cx="4206240" cy="180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Схема канала: дистрибьютор → партнёр → клиент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Профиль целевого партнёра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План запуска в канале (шаги)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KPI: контракты и выручка, год 1 / год 2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98848" y="3912809"/>
            <a:ext cx="4206240" cy="0"/>
          </a:xfrm>
          <a:prstGeom prst="line">
            <a:avLst/>
          </a:prstGeom>
          <a:noFill/>
          <a:ln w="5080">
            <a:solidFill>
              <a:srgbClr val="B8C6E8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498848" y="3958529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Замените этот блок своим контентом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4759452"/>
            <a:ext cx="8631936" cy="0"/>
          </a:xfrm>
          <a:prstGeom prst="line">
            <a:avLst/>
          </a:prstGeom>
          <a:noFill/>
          <a:ln w="1016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256032" y="47685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AXOFT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37360" y="47685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питч-дека  ·  UP: Axoft &amp; Сколково  ·  2026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223760" y="47685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СКОЛКОВО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F6E"/>
          </a:solidFill>
          <a:ln w="12700">
            <a:solidFill>
              <a:srgbClr val="1A2F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КОМАНДА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75120" y="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A8B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64008" cy="4192524"/>
          </a:xfrm>
          <a:prstGeom prst="rect">
            <a:avLst/>
          </a:prstGeom>
          <a:solidFill>
            <a:srgbClr val="009A4E"/>
          </a:solidFill>
          <a:ln w="12700">
            <a:solidFill>
              <a:srgbClr val="009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56032" y="621792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" y="128016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Покажите людей, которые доведут продукт до рынка — опыт, роли, почему именно вы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609344"/>
            <a:ext cx="3950208" cy="3104388"/>
          </a:xfrm>
          <a:prstGeom prst="rect">
            <a:avLst/>
          </a:prstGeom>
          <a:solidFill>
            <a:srgbClr val="EEF2FB"/>
          </a:solidFill>
          <a:ln w="635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20624" y="1719072"/>
            <a:ext cx="367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НАПРАВЛЯЮЩИЕ ВОПРОСЫ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0624" y="2002536"/>
            <a:ext cx="3675888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ключевые члены команды? Имя, роль, 1–2 строки релевантного опыта каждого.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отвечает за продукт, разработку и продажи? Критичные пробелы в команде?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advisors, менторы или стратегические партнёры?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именно ваша команда реализует этот продукт лучше других?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1609344"/>
            <a:ext cx="4572000" cy="3104388"/>
          </a:xfrm>
          <a:prstGeom prst="rect">
            <a:avLst/>
          </a:prstGeom>
          <a:solidFill>
            <a:srgbClr val="F8F9FE"/>
          </a:solidFill>
          <a:ln w="10160">
            <a:solidFill>
              <a:srgbClr val="B8C6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498848" y="17190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ДАННЫЕ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98848" y="1993392"/>
            <a:ext cx="4206240" cy="0"/>
          </a:xfrm>
          <a:prstGeom prst="line">
            <a:avLst/>
          </a:prstGeom>
          <a:noFill/>
          <a:ln w="6350">
            <a:solidFill>
              <a:srgbClr val="B8C6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498848" y="2011680"/>
            <a:ext cx="4206240" cy="180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Фото + имя + роль + краткое bio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Ключевые достижения (релевантный опыт)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Advisors и стратегические партнёры</a:t>
            </a:r>
            <a:endParaRPr lang="en-US" sz="11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50" i="1" dirty="0">
                <a:solidFill>
                  <a:srgbClr val="9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Команда: текущий состав и план найма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98848" y="3912809"/>
            <a:ext cx="4206240" cy="0"/>
          </a:xfrm>
          <a:prstGeom prst="line">
            <a:avLst/>
          </a:prstGeom>
          <a:noFill/>
          <a:ln w="5080">
            <a:solidFill>
              <a:srgbClr val="B8C6E8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498848" y="3958529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Замените этот блок своим контентом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4759452"/>
            <a:ext cx="8631936" cy="0"/>
          </a:xfrm>
          <a:prstGeom prst="line">
            <a:avLst/>
          </a:prstGeom>
          <a:noFill/>
          <a:ln w="10160">
            <a:solidFill>
              <a:srgbClr val="CDD5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256032" y="47685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AXOFT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37360" y="47685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питч-дека  ·  UP: Axoft &amp; Сколково  ·  2026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223760" y="47685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СКОЛКОВО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1525</Words>
  <Application>Microsoft Macintosh PowerPoint</Application>
  <PresentationFormat>Экран (16:9)</PresentationFormat>
  <Paragraphs>245</Paragraphs>
  <Slides>13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UP: Axoft &amp; Сколково — Шаблон питч-дека</dc:title>
  <dc:subject/>
  <dc:creator>Anton Ryazanov </dc:creator>
  <cp:keywords/>
  <dc:description/>
  <cp:lastModifiedBy>Anton Ryazanov</cp:lastModifiedBy>
  <cp:revision>3</cp:revision>
  <dcterms:created xsi:type="dcterms:W3CDTF">2026-05-14T08:18:57Z</dcterms:created>
  <dcterms:modified xsi:type="dcterms:W3CDTF">2026-05-14T10:20:45Z</dcterms:modified>
  <cp:category/>
</cp:coreProperties>
</file>